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10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  <Override PartName="/ppt/media/image7.png" ContentType="image/png"/>
  <Override PartName="/ppt/media/image11.png" ContentType="image/png"/>
  <Override PartName="/ppt/media/image12.jpeg" ContentType="image/jpeg"/>
  <Override PartName="/ppt/media/image8.jpeg" ContentType="image/jpeg"/>
  <Override PartName="/ppt/media/image9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18DE0DE-6A49-41D3-9819-8A889766997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42151E-C455-4C63-8A4D-724D23B28E8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4A1E7D-0752-42F3-ADB2-5AF98893701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1475FB-597A-4DE4-99A3-A4FF879AD4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A19A7B-0EB1-41F3-B9FE-8559388FE07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36613D-C8C7-4B5B-8AE4-5A8964D7CD1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A96681-421D-441A-BD22-4154246D242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D1ED07-8EA4-4EB7-A75A-E3191A3BD80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CAFF96D-4045-4086-83E2-CCCC4E43E23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70DD33-B521-448B-8D2B-B36C9F044EA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 w="0">
            <a:noFill/>
          </a:ln>
        </p:spPr>
      </p:pic>
      <p:sp>
        <p:nvSpPr>
          <p:cNvPr id="1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000000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to edit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to edit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to edit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to edit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/>
          <p:cNvSpPr/>
          <p:nvPr/>
        </p:nvSpPr>
        <p:spPr>
          <a:xfrm>
            <a:off x="102240" y="82800"/>
            <a:ext cx="812700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83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"/>
          <p:cNvSpPr/>
          <p:nvPr/>
        </p:nvSpPr>
        <p:spPr>
          <a:xfrm>
            <a:off x="457200" y="716760"/>
            <a:ext cx="7517520" cy="31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1666"/>
          </a:bodyPr>
          <a:p>
            <a:pPr defTabSz="914400">
              <a:lnSpc>
                <a:spcPct val="87000"/>
              </a:lnSpc>
              <a:tabLst>
                <a:tab algn="l" pos="0"/>
              </a:tabLst>
            </a:pPr>
            <a:r>
              <a:rPr b="0" lang="en-US" sz="6500" spc="-120" strike="noStrike">
                <a:solidFill>
                  <a:srgbClr val="ffffff"/>
                </a:solidFill>
                <a:latin typeface="Mona Sans Light"/>
                <a:ea typeface="Mona Sans Light"/>
              </a:rPr>
              <a:t>Reinforcement Learning-Based</a:t>
            </a:r>
            <a:endParaRPr b="0" lang="en-US" sz="6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87000"/>
              </a:lnSpc>
              <a:tabLst>
                <a:tab algn="l" pos="0"/>
              </a:tabLst>
            </a:pPr>
            <a:r>
              <a:rPr b="0" lang="en-US" sz="6500" spc="-120" strike="noStrike">
                <a:solidFill>
                  <a:srgbClr val="ffffff"/>
                </a:solidFill>
                <a:latin typeface="Mona Sans Light"/>
                <a:ea typeface="Mona Sans Light"/>
              </a:rPr>
              <a:t>Autonomous Navigation</a:t>
            </a:r>
            <a:endParaRPr b="0" lang="en-US" sz="6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736560" y="4823280"/>
            <a:ext cx="75175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 rot="30600">
            <a:off x="459360" y="4645440"/>
            <a:ext cx="751752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3000"/>
              </a:lnSpc>
              <a:spcAft>
                <a:spcPts val="1400"/>
              </a:spcAft>
              <a:tabLst>
                <a:tab algn="l" pos="0"/>
              </a:tabLst>
            </a:pPr>
            <a:r>
              <a:rPr b="0" lang="en-US" sz="1400" spc="18" strike="noStrike">
                <a:solidFill>
                  <a:srgbClr val="ffffff"/>
                </a:solidFill>
                <a:latin typeface="Reddit Mono Medium"/>
                <a:ea typeface="Reddit Mono Medium"/>
              </a:rPr>
              <a:t>Prepared by: </a:t>
            </a:r>
            <a:r>
              <a:rPr b="1" lang="en-US" sz="2000" spc="18" strike="noStrike">
                <a:solidFill>
                  <a:srgbClr val="ffffff"/>
                </a:solidFill>
                <a:latin typeface="Reddit Mono Medium"/>
                <a:ea typeface="Reddit Mono Medium"/>
              </a:rPr>
              <a:t>Mohammad Osama Twati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3000"/>
              </a:lnSpc>
              <a:tabLst>
                <a:tab algn="l" pos="0"/>
              </a:tabLst>
            </a:pPr>
            <a:r>
              <a:rPr b="0" lang="en-US" sz="1400" spc="18" strike="noStrike">
                <a:solidFill>
                  <a:srgbClr val="ffffff"/>
                </a:solidFill>
                <a:latin typeface="Reddit Mono Medium"/>
                <a:ea typeface="Reddit Mono Medium"/>
              </a:rPr>
              <a:t>Supervisors:</a:t>
            </a:r>
            <a:r>
              <a:rPr b="1" lang="en-US" sz="1800" spc="18" strike="noStrike">
                <a:solidFill>
                  <a:srgbClr val="ffffff"/>
                </a:solidFill>
                <a:latin typeface="Reddit Mono Medium"/>
                <a:ea typeface="Reddit Mono Medium"/>
              </a:rPr>
              <a:t> </a:t>
            </a:r>
            <a:r>
              <a:rPr b="1" lang="en-US" sz="2000" spc="18" strike="noStrike">
                <a:solidFill>
                  <a:srgbClr val="ffffff"/>
                </a:solidFill>
                <a:latin typeface="Reddit Mono Medium"/>
                <a:ea typeface="Reddit Mono Medium"/>
              </a:rPr>
              <a:t>Dr. Louay Saleh  ·  Eng. Sara Hamdan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Robot caption"/>
          <p:cNvSpPr/>
          <p:nvPr/>
        </p:nvSpPr>
        <p:spPr>
          <a:xfrm>
            <a:off x="8650080" y="5630040"/>
            <a:ext cx="299916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 rot="19200">
            <a:off x="7938000" y="1610640"/>
            <a:ext cx="3982320" cy="5054760"/>
          </a:xfrm>
          <a:prstGeom prst="rect">
            <a:avLst/>
          </a:prstGeom>
          <a:ln w="0">
            <a:noFill/>
          </a:ln>
        </p:spPr>
      </p:pic>
      <p:pic>
        <p:nvPicPr>
          <p:cNvPr id="24" name="" descr=""/>
          <p:cNvPicPr/>
          <p:nvPr/>
        </p:nvPicPr>
        <p:blipFill>
          <a:blip r:embed="rId2"/>
          <a:stretch/>
        </p:blipFill>
        <p:spPr>
          <a:xfrm>
            <a:off x="11048760" y="0"/>
            <a:ext cx="1142640" cy="114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609480" y="624240"/>
            <a:ext cx="6704640" cy="11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83000"/>
              </a:lnSpc>
              <a:tabLst>
                <a:tab algn="l" pos="0"/>
              </a:tabLst>
            </a:pPr>
            <a:r>
              <a:rPr b="0" lang="en-US" sz="900" spc="103" strike="noStrike">
                <a:solidFill>
                  <a:srgbClr val="a9aeb8"/>
                </a:solidFill>
                <a:latin typeface="Mona Sans Medium"/>
                <a:ea typeface="Mona Sans Medium"/>
              </a:rPr>
              <a:t>THE MOTIVATION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609480" y="809640"/>
            <a:ext cx="609516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9999"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2800" spc="-43" strike="noStrike">
                <a:solidFill>
                  <a:srgbClr val="eceae4"/>
                </a:solidFill>
                <a:latin typeface="Mona Sans Light"/>
                <a:ea typeface="Mona Sans Light"/>
              </a:rPr>
              <a:t>Why move beyond traditional navigation? One system from simulation to robot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609480" y="1671120"/>
            <a:ext cx="6095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7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bcc0c9"/>
                </a:solidFill>
                <a:latin typeface="Commissioner"/>
                <a:ea typeface="Commissioner"/>
              </a:rPr>
              <a:t>SLAM handles localization and mapping, PPO reinforcement learning drives motion decisions, and ONNX deployment runs inside a ROS 2 Jazzy node.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" name="Image 0" descr="preencoded.png"/>
          <p:cNvPicPr/>
          <p:nvPr/>
        </p:nvPicPr>
        <p:blipFill>
          <a:blip r:embed="rId1"/>
          <a:stretch/>
        </p:blipFill>
        <p:spPr>
          <a:xfrm>
            <a:off x="609480" y="2167200"/>
            <a:ext cx="312840" cy="312840"/>
          </a:xfrm>
          <a:prstGeom prst="rect">
            <a:avLst/>
          </a:prstGeom>
          <a:ln w="0">
            <a:noFill/>
          </a:ln>
        </p:spPr>
      </p:pic>
      <p:sp>
        <p:nvSpPr>
          <p:cNvPr id="29" name="Text 3"/>
          <p:cNvSpPr/>
          <p:nvPr/>
        </p:nvSpPr>
        <p:spPr>
          <a:xfrm>
            <a:off x="609480" y="2570760"/>
            <a:ext cx="609516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ceae4"/>
                </a:solidFill>
                <a:latin typeface="Commissioner"/>
                <a:ea typeface="Commissioner"/>
              </a:rPr>
              <a:t>Nav2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609480" y="2888640"/>
            <a:ext cx="6095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7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bcc0c9"/>
                </a:solidFill>
                <a:latin typeface="Commissioner"/>
                <a:ea typeface="Commissioner"/>
              </a:rPr>
              <a:t>Combines global and local planning, but depends on costmaps and manually tuned parameters.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" name="Image 1" descr="preencoded.png"/>
          <p:cNvPicPr/>
          <p:nvPr/>
        </p:nvPicPr>
        <p:blipFill>
          <a:blip r:embed="rId2"/>
          <a:stretch/>
        </p:blipFill>
        <p:spPr>
          <a:xfrm>
            <a:off x="609480" y="3961080"/>
            <a:ext cx="312840" cy="312840"/>
          </a:xfrm>
          <a:prstGeom prst="rect">
            <a:avLst/>
          </a:prstGeom>
          <a:ln w="0">
            <a:noFill/>
          </a:ln>
        </p:spPr>
      </p:pic>
      <p:sp>
        <p:nvSpPr>
          <p:cNvPr id="32" name="Text 5"/>
          <p:cNvSpPr/>
          <p:nvPr/>
        </p:nvSpPr>
        <p:spPr>
          <a:xfrm>
            <a:off x="609480" y="4364280"/>
            <a:ext cx="609516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50" spc="-1" strike="noStrike">
                <a:solidFill>
                  <a:srgbClr val="eceae4"/>
                </a:solidFill>
                <a:latin typeface="Commissioner"/>
                <a:ea typeface="Commissioner"/>
              </a:rPr>
              <a:t>Reinforcement learning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6"/>
          <p:cNvSpPr/>
          <p:nvPr/>
        </p:nvSpPr>
        <p:spPr>
          <a:xfrm>
            <a:off x="609480" y="4682520"/>
            <a:ext cx="6095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7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bcc0c9"/>
                </a:solidFill>
                <a:latin typeface="Commissioner"/>
                <a:ea typeface="Commissioner"/>
              </a:rPr>
              <a:t>Learns a navigation policy through trial and error, with potential advantages in narrow or changing environments.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7"/>
          <p:cNvSpPr/>
          <p:nvPr/>
        </p:nvSpPr>
        <p:spPr>
          <a:xfrm>
            <a:off x="609480" y="5531040"/>
            <a:ext cx="609516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3000"/>
              </a:lnSpc>
              <a:tabLst>
                <a:tab algn="l" pos="0"/>
              </a:tabLst>
            </a:pPr>
            <a:r>
              <a:rPr b="0" lang="en-US" sz="900" spc="12" strike="noStrike">
                <a:solidFill>
                  <a:srgbClr val="e8a657"/>
                </a:solidFill>
                <a:latin typeface="Reddit Mono Medium"/>
                <a:ea typeface="Reddit Mono Medium"/>
              </a:rPr>
              <a:t>RESEARCH QUESTION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8"/>
          <p:cNvSpPr/>
          <p:nvPr/>
        </p:nvSpPr>
        <p:spPr>
          <a:xfrm>
            <a:off x="609480" y="5766480"/>
            <a:ext cx="609516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7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bcc0c9"/>
                </a:solidFill>
                <a:latin typeface="Commissioner"/>
                <a:ea typeface="Commissioner"/>
              </a:rPr>
              <a:t>Can a policy trained in Isaac Sim transfer to a resource-constrained Raspberry Pi 5 robot, and how will it compare with Nav2?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" name="Image 2" descr="preencoded.png"/>
          <p:cNvPicPr/>
          <p:nvPr/>
        </p:nvPicPr>
        <p:blipFill>
          <a:blip r:embed="rId3"/>
          <a:stretch/>
        </p:blipFill>
        <p:spPr>
          <a:xfrm>
            <a:off x="6858000" y="685800"/>
            <a:ext cx="5129640" cy="5486400"/>
          </a:xfrm>
          <a:prstGeom prst="rect">
            <a:avLst/>
          </a:prstGeom>
          <a:ln w="0">
            <a:noFill/>
          </a:ln>
        </p:spPr>
      </p:pic>
      <p:sp>
        <p:nvSpPr>
          <p:cNvPr id="37" name="Shape 9"/>
          <p:cNvSpPr/>
          <p:nvPr/>
        </p:nvSpPr>
        <p:spPr>
          <a:xfrm>
            <a:off x="609480" y="3726000"/>
            <a:ext cx="6095160" cy="11880"/>
          </a:xfrm>
          <a:prstGeom prst="rect">
            <a:avLst/>
          </a:prstGeom>
          <a:solidFill>
            <a:srgbClr val="2f3a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10"/>
          <p:cNvSpPr/>
          <p:nvPr/>
        </p:nvSpPr>
        <p:spPr>
          <a:xfrm>
            <a:off x="609480" y="5291280"/>
            <a:ext cx="6095160" cy="11880"/>
          </a:xfrm>
          <a:prstGeom prst="rect">
            <a:avLst/>
          </a:prstGeom>
          <a:solidFill>
            <a:srgbClr val="2f3a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2400" bIns="-324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lide number"/>
          <p:cNvSpPr/>
          <p:nvPr/>
        </p:nvSpPr>
        <p:spPr>
          <a:xfrm>
            <a:off x="10982520" y="6580080"/>
            <a:ext cx="59976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7CDBFABA-2EB0-42F0-94BC-9F86E2BBC234}" type="slidenum">
              <a:rPr b="0" lang="en-US" sz="10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2</a:t>
            </a:fld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609480" y="630360"/>
            <a:ext cx="115815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83000"/>
              </a:lnSpc>
              <a:tabLst>
                <a:tab algn="l" pos="0"/>
              </a:tabLst>
            </a:pPr>
            <a:r>
              <a:rPr b="0" lang="en-US" sz="1150" spc="134" strike="noStrike">
                <a:solidFill>
                  <a:srgbClr val="a9aeb8"/>
                </a:solidFill>
                <a:latin typeface="Mona Sans Medium"/>
                <a:ea typeface="Mona Sans Medium"/>
              </a:rPr>
              <a:t>LITERATURE REVIEW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609480" y="890280"/>
            <a:ext cx="109717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3600" spc="-55" strike="noStrike">
                <a:solidFill>
                  <a:srgbClr val="eceae4"/>
                </a:solidFill>
                <a:latin typeface="Mona Sans Light"/>
                <a:ea typeface="Mona Sans Light"/>
              </a:rPr>
              <a:t>What recent research tells us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42" name="Table 0"/>
          <p:cNvGraphicFramePr/>
          <p:nvPr/>
        </p:nvGraphicFramePr>
        <p:xfrm>
          <a:off x="609480" y="1535040"/>
          <a:ext cx="10972080" cy="3218760"/>
        </p:xfrm>
        <a:graphic>
          <a:graphicData uri="http://schemas.openxmlformats.org/drawingml/2006/table">
            <a:tbl>
              <a:tblPr/>
              <a:tblGrid>
                <a:gridCol w="2962440"/>
                <a:gridCol w="8010000"/>
              </a:tblGrid>
              <a:tr h="46944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eceae4"/>
                          </a:solidFill>
                          <a:latin typeface="Commissioner"/>
                          <a:ea typeface="Commissioner"/>
                        </a:rPr>
                        <a:t>Study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07080c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eceae4"/>
                          </a:solidFill>
                          <a:latin typeface="Commissioner"/>
                          <a:ea typeface="Commissioner"/>
                        </a:rPr>
                        <a:t>Finding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07080c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76428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Taheri et al. (2024)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PPO performed strongly in simple environments, but performance dropped in complex scenes.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46944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Arce Llobera et al. (2026)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Parallel Isaac Sim training reduced training time and collision rates in simulation.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76428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Gao et al. (2025)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Hierarchical RL achieved strong results in a narrow home environment with limited real-world trials.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75132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Salimpour et al. (2025)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0708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Demonstrated sim-to-real transfer, but not a quantitative real-world Nav2 comparison.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07080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3" name="Text 2"/>
          <p:cNvSpPr/>
          <p:nvPr/>
        </p:nvSpPr>
        <p:spPr>
          <a:xfrm>
            <a:off x="609480" y="4951440"/>
            <a:ext cx="11581560" cy="29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bcc0c9"/>
                </a:solidFill>
                <a:latin typeface="Commissioner"/>
                <a:ea typeface="Commissioner"/>
              </a:rPr>
              <a:t>Across the literature: simulation is advancing faster than repeatable physical-robot evaluation.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lide number"/>
          <p:cNvSpPr/>
          <p:nvPr/>
        </p:nvSpPr>
        <p:spPr>
          <a:xfrm>
            <a:off x="10982520" y="6580080"/>
            <a:ext cx="59976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914D2163-80FD-4344-9F6F-E2F8DA910BF0}" type="slidenum">
              <a:rPr b="0" lang="en-US" sz="10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2</a:t>
            </a:fld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609480" y="476640"/>
            <a:ext cx="11581560" cy="13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83000"/>
              </a:lnSpc>
              <a:tabLst>
                <a:tab algn="l" pos="0"/>
              </a:tabLst>
            </a:pPr>
            <a:r>
              <a:rPr b="0" lang="en-US" sz="1050" spc="120" strike="noStrike">
                <a:solidFill>
                  <a:srgbClr val="a9aeb8"/>
                </a:solidFill>
                <a:latin typeface="Mona Sans Medium"/>
                <a:ea typeface="Mona Sans Medium"/>
              </a:rPr>
              <a:t>LITERATURE COMPARISON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609480" y="702360"/>
            <a:ext cx="10971720" cy="4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3250" spc="-49" strike="noStrike">
                <a:solidFill>
                  <a:srgbClr val="eceae4"/>
                </a:solidFill>
                <a:latin typeface="Mona Sans Light"/>
                <a:ea typeface="Mona Sans Light"/>
              </a:rPr>
              <a:t>Comparison of the four reviewed studies</a:t>
            </a:r>
            <a:endParaRPr b="0" lang="en-US" sz="325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47" name="Table 0"/>
          <p:cNvGraphicFramePr/>
          <p:nvPr/>
        </p:nvGraphicFramePr>
        <p:xfrm>
          <a:off x="609480" y="1269000"/>
          <a:ext cx="10971720" cy="5469840"/>
        </p:xfrm>
        <a:graphic>
          <a:graphicData uri="http://schemas.openxmlformats.org/drawingml/2006/table">
            <a:tbl>
              <a:tblPr/>
              <a:tblGrid>
                <a:gridCol w="1949760"/>
                <a:gridCol w="1499760"/>
                <a:gridCol w="1599840"/>
                <a:gridCol w="1399680"/>
                <a:gridCol w="2621880"/>
                <a:gridCol w="1899720"/>
              </a:tblGrid>
              <a:tr h="366840"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eceae4"/>
                          </a:solidFill>
                          <a:latin typeface="Commissioner"/>
                          <a:ea typeface="Commissioner"/>
                        </a:rPr>
                        <a:t>Study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07080c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eceae4"/>
                          </a:solidFill>
                          <a:latin typeface="Commissioner"/>
                          <a:ea typeface="Commissioner"/>
                        </a:rPr>
                        <a:t>Platform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07080c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eceae4"/>
                          </a:solidFill>
                          <a:latin typeface="Commissioner"/>
                          <a:ea typeface="Commissioner"/>
                        </a:rPr>
                        <a:t>Algorithm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07080c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eceae4"/>
                          </a:solidFill>
                          <a:latin typeface="Commissioner"/>
                          <a:ea typeface="Commissioner"/>
                        </a:rPr>
                        <a:t>Sensors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07080c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eceae4"/>
                          </a:solidFill>
                          <a:latin typeface="Commissioner"/>
                          <a:ea typeface="Commissioner"/>
                        </a:rPr>
                        <a:t>Key Results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07080c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eceae4"/>
                          </a:solidFill>
                          <a:latin typeface="Commissioner"/>
                          <a:ea typeface="Commissioner"/>
                        </a:rPr>
                        <a:t>Limitations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07080c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1222560"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Taheri et al. (2024)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Gazebo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PPO with ResBlocks versus DDPG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LiDAR, 10 compressed measurements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Simple environment: PPO 100% and DDPG 98.46%; complex environment: DDPG 93.65% and PPO 67.81%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Simulation only; small number of evaluation episodes.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1222560"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Arce Llobera et al. (2026)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Isaac Sim/Lab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PPO with a GRU layer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LiDAR, 128 beams, and IMU yaw angle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750 robots trained in parallel in about 4 hours; collisions decreased from 24% to 11% in one environment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Simulation only; SLAM uses LiDAR only, without loop closure.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1222560"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Gao et al. (2025)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Gazebo, then physical TurtleBot3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D3QN high level and CPO low level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LiDAR and wheel odometry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97% success in a narrow home environment; collision-free real-world trials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Collisions with pedestrians in dense crowds; few real-world trials: 30 and 10 attempts.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1430280"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Salimpour et al. (2025)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0708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Isaac Sim, then Gazebo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0708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PPO, MLP and LSTM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0708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LiDAR and odometry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0708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Zero-shot transfer to TurtleBot 4 Lite; success in 7–10 of 10 static-environment trials; comparison with Nav2 in Gazebo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0708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37520" rIns="1375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Weak performance with dynamic obstacles; no quantitative real-world comparison with Nav2.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37520" marR="13752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07080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8" name="Slide number"/>
          <p:cNvSpPr/>
          <p:nvPr/>
        </p:nvSpPr>
        <p:spPr>
          <a:xfrm>
            <a:off x="10982520" y="6580080"/>
            <a:ext cx="59976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15FC6EA2-A456-454C-9E32-D93F877AC118}" type="slidenum">
              <a:rPr b="0" lang="en-US" sz="10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2</a:t>
            </a:fld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609480" y="630360"/>
            <a:ext cx="115815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83000"/>
              </a:lnSpc>
              <a:tabLst>
                <a:tab algn="l" pos="0"/>
              </a:tabLst>
            </a:pPr>
            <a:r>
              <a:rPr b="0" lang="en-US" sz="1150" spc="134" strike="noStrike">
                <a:solidFill>
                  <a:srgbClr val="a9aeb8"/>
                </a:solidFill>
                <a:latin typeface="Mona Sans Medium"/>
                <a:ea typeface="Mona Sans Medium"/>
              </a:rPr>
              <a:t>PROJECT DEFINITION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609480" y="890280"/>
            <a:ext cx="109717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3600" spc="-55" strike="noStrike">
                <a:solidFill>
                  <a:srgbClr val="eceae4"/>
                </a:solidFill>
                <a:latin typeface="Mona Sans Light"/>
                <a:ea typeface="Mona Sans Light"/>
              </a:rPr>
              <a:t>The research gap defines this project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609480" y="1547640"/>
            <a:ext cx="10971720" cy="189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eceae4"/>
                </a:solidFill>
                <a:latin typeface="Commissioner"/>
                <a:ea typeface="Commissioner"/>
              </a:rPr>
              <a:t>Research gap: existing studies report strong simulation results, but few offer repeatable, quantitative real-world comparisons of RL navigation against Nav2 on a low-cost, compute-limited robot.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bcc0c9"/>
                </a:solidFill>
                <a:latin typeface="Commissioner"/>
                <a:ea typeface="Commissioner"/>
              </a:rPr>
              <a:t>This project turns that gap into a measurable engineering target.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" name="Image 0" descr="preencoded.png"/>
          <p:cNvPicPr/>
          <p:nvPr/>
        </p:nvPicPr>
        <p:blipFill>
          <a:blip r:embed="rId1"/>
          <a:stretch/>
        </p:blipFill>
        <p:spPr>
          <a:xfrm>
            <a:off x="609480" y="3800880"/>
            <a:ext cx="405720" cy="405720"/>
          </a:xfrm>
          <a:prstGeom prst="rect">
            <a:avLst/>
          </a:prstGeom>
          <a:ln w="0">
            <a:noFill/>
          </a:ln>
        </p:spPr>
      </p:pic>
      <p:sp>
        <p:nvSpPr>
          <p:cNvPr id="53" name="Text 3"/>
          <p:cNvSpPr/>
          <p:nvPr/>
        </p:nvSpPr>
        <p:spPr>
          <a:xfrm>
            <a:off x="609480" y="4352400"/>
            <a:ext cx="34282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eceae4"/>
                </a:solidFill>
                <a:latin typeface="Commissioner"/>
                <a:ea typeface="Commissioner"/>
              </a:rPr>
              <a:t>Primary objective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609480" y="4787640"/>
            <a:ext cx="342828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bcc0c9"/>
                </a:solidFill>
                <a:latin typeface="Commissioner"/>
                <a:ea typeface="Commissioner"/>
              </a:rPr>
              <a:t>Develop an autonomous mobile-robot system that reaches a goal while avoiding obstacles.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5" name="Image 1" descr="preencoded.png"/>
          <p:cNvPicPr/>
          <p:nvPr/>
        </p:nvPicPr>
        <p:blipFill>
          <a:blip r:embed="rId2"/>
          <a:stretch/>
        </p:blipFill>
        <p:spPr>
          <a:xfrm>
            <a:off x="4495680" y="3800880"/>
            <a:ext cx="405720" cy="405720"/>
          </a:xfrm>
          <a:prstGeom prst="rect">
            <a:avLst/>
          </a:prstGeom>
          <a:ln w="0">
            <a:noFill/>
          </a:ln>
        </p:spPr>
      </p:pic>
      <p:sp>
        <p:nvSpPr>
          <p:cNvPr id="56" name="Text 5"/>
          <p:cNvSpPr/>
          <p:nvPr/>
        </p:nvSpPr>
        <p:spPr>
          <a:xfrm>
            <a:off x="4495680" y="4352400"/>
            <a:ext cx="31996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eceae4"/>
                </a:solidFill>
                <a:latin typeface="Commissioner"/>
                <a:ea typeface="Commissioner"/>
              </a:rPr>
              <a:t>Secondary objectives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4495680" y="4787640"/>
            <a:ext cx="3199680" cy="14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171360" indent="-171360" defTabSz="914400">
              <a:lnSpc>
                <a:spcPct val="115000"/>
              </a:lnSpc>
              <a:spcAft>
                <a:spcPts val="201"/>
              </a:spcAft>
              <a:buClr>
                <a:srgbClr val="bcc0c9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bcc0c9"/>
                </a:solidFill>
                <a:latin typeface="Commissioner"/>
                <a:ea typeface="Commissioner"/>
              </a:rPr>
              <a:t>Integrate SLAM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171360" indent="-171360" defTabSz="914400">
              <a:lnSpc>
                <a:spcPct val="115000"/>
              </a:lnSpc>
              <a:spcAft>
                <a:spcPts val="201"/>
              </a:spcAft>
              <a:buClr>
                <a:srgbClr val="bcc0c9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bcc0c9"/>
                </a:solidFill>
                <a:latin typeface="Commissioner"/>
                <a:ea typeface="Commissioner"/>
              </a:rPr>
              <a:t>Train PPO in Isaac Sim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171360" indent="-171360" defTabSz="914400">
              <a:lnSpc>
                <a:spcPct val="115000"/>
              </a:lnSpc>
              <a:spcAft>
                <a:spcPts val="201"/>
              </a:spcAft>
              <a:buClr>
                <a:srgbClr val="bcc0c9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bcc0c9"/>
                </a:solidFill>
                <a:latin typeface="Commissioner"/>
                <a:ea typeface="Commissioner"/>
              </a:rPr>
              <a:t>Export the policy to ONNX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171360" indent="-171360" defTabSz="914400">
              <a:lnSpc>
                <a:spcPct val="115000"/>
              </a:lnSpc>
              <a:spcAft>
                <a:spcPts val="201"/>
              </a:spcAft>
              <a:buClr>
                <a:srgbClr val="bcc0c9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bcc0c9"/>
                </a:solidFill>
                <a:latin typeface="Commissioner"/>
                <a:ea typeface="Commissioner"/>
              </a:rPr>
              <a:t>Deploy on Raspberry Pi 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171360" indent="-171360" defTabSz="914400">
              <a:lnSpc>
                <a:spcPct val="115000"/>
              </a:lnSpc>
              <a:spcAft>
                <a:spcPts val="201"/>
              </a:spcAft>
              <a:buClr>
                <a:srgbClr val="bcc0c9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bcc0c9"/>
                </a:solidFill>
                <a:latin typeface="Commissioner"/>
                <a:ea typeface="Commissioner"/>
              </a:rPr>
              <a:t>Compare with Nav2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" name="Image 2" descr="preencoded.png"/>
          <p:cNvPicPr/>
          <p:nvPr/>
        </p:nvPicPr>
        <p:blipFill>
          <a:blip r:embed="rId3"/>
          <a:stretch/>
        </p:blipFill>
        <p:spPr>
          <a:xfrm>
            <a:off x="8153280" y="3800880"/>
            <a:ext cx="405720" cy="405720"/>
          </a:xfrm>
          <a:prstGeom prst="rect">
            <a:avLst/>
          </a:prstGeom>
          <a:ln w="0">
            <a:noFill/>
          </a:ln>
        </p:spPr>
      </p:pic>
      <p:sp>
        <p:nvSpPr>
          <p:cNvPr id="59" name="Text 7"/>
          <p:cNvSpPr/>
          <p:nvPr/>
        </p:nvSpPr>
        <p:spPr>
          <a:xfrm>
            <a:off x="8153280" y="4352400"/>
            <a:ext cx="3428280" cy="30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eceae4"/>
                </a:solidFill>
                <a:latin typeface="Commissioner"/>
                <a:ea typeface="Commissioner"/>
              </a:rPr>
              <a:t>Focus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8153280" y="4787640"/>
            <a:ext cx="342828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bcc0c9"/>
                </a:solidFill>
                <a:latin typeface="Commissioner"/>
                <a:ea typeface="Commissioner"/>
              </a:rPr>
              <a:t>How simulation conditions and sensor noise affect transfer to the physical robot.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9"/>
          <p:cNvSpPr/>
          <p:nvPr/>
        </p:nvSpPr>
        <p:spPr>
          <a:xfrm>
            <a:off x="4260600" y="3800880"/>
            <a:ext cx="11880" cy="2446920"/>
          </a:xfrm>
          <a:prstGeom prst="rect">
            <a:avLst/>
          </a:prstGeom>
          <a:solidFill>
            <a:srgbClr val="2f3a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0"/>
          <p:cNvSpPr/>
          <p:nvPr/>
        </p:nvSpPr>
        <p:spPr>
          <a:xfrm>
            <a:off x="7918200" y="3800880"/>
            <a:ext cx="11880" cy="2446920"/>
          </a:xfrm>
          <a:prstGeom prst="rect">
            <a:avLst/>
          </a:prstGeom>
          <a:solidFill>
            <a:srgbClr val="2f3a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lide number"/>
          <p:cNvSpPr/>
          <p:nvPr/>
        </p:nvSpPr>
        <p:spPr>
          <a:xfrm>
            <a:off x="10982520" y="6580080"/>
            <a:ext cx="59976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72E87824-3D55-4EC6-A0B9-C5B854DC4C58}" type="slidenum">
              <a:rPr b="0" lang="en-US" sz="10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5</a:t>
            </a:fld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0"/>
          <p:cNvSpPr/>
          <p:nvPr/>
        </p:nvSpPr>
        <p:spPr>
          <a:xfrm>
            <a:off x="609480" y="630360"/>
            <a:ext cx="115815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83000"/>
              </a:lnSpc>
              <a:tabLst>
                <a:tab algn="l" pos="0"/>
              </a:tabLst>
            </a:pPr>
            <a:r>
              <a:rPr b="0" lang="en-US" sz="1150" spc="134" strike="noStrike">
                <a:solidFill>
                  <a:srgbClr val="a9aeb8"/>
                </a:solidFill>
                <a:latin typeface="Mona Sans Medium"/>
                <a:ea typeface="Mona Sans Medium"/>
              </a:rPr>
              <a:t>ENGINEERING CONSTRAINTS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609480" y="890280"/>
            <a:ext cx="109717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3600" spc="-55" strike="noStrike">
                <a:solidFill>
                  <a:srgbClr val="eceae4"/>
                </a:solidFill>
                <a:latin typeface="Mona Sans Light"/>
                <a:ea typeface="Mona Sans Light"/>
              </a:rPr>
              <a:t>Technical target: a compact, measurable platform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66" name="Table 0"/>
          <p:cNvGraphicFramePr/>
          <p:nvPr/>
        </p:nvGraphicFramePr>
        <p:xfrm>
          <a:off x="609480" y="1535040"/>
          <a:ext cx="10971720" cy="5197320"/>
        </p:xfrm>
        <a:graphic>
          <a:graphicData uri="http://schemas.openxmlformats.org/drawingml/2006/table">
            <a:tbl>
              <a:tblPr/>
              <a:tblGrid>
                <a:gridCol w="3949920"/>
                <a:gridCol w="7022160"/>
              </a:tblGrid>
              <a:tr h="43416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eceae4"/>
                          </a:solidFill>
                          <a:latin typeface="Commissioner"/>
                          <a:ea typeface="Commissioner"/>
                        </a:rPr>
                        <a:t>Parameter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07080c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eceae4"/>
                          </a:solidFill>
                          <a:latin typeface="Commissioner"/>
                          <a:ea typeface="Commissioner"/>
                        </a:rPr>
                        <a:t>Value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07080c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43416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Robot dimensions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25 × 15 × 20 cm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43416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Robot mass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≤ </a:t>
                      </a: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3 kg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43416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Drive type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Differential drive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43416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Minimum passage width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≥ </a:t>
                      </a: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40 cm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43416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Linear speed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0.1–0.4 m/s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43416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Angular speed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≥ </a:t>
                      </a: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1 rad/s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43416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Goal accuracy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±10 cm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43416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LiDAR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RPLIDAR A1 · 360° scan · 0.15–12 m · 5–10 Hz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43416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IMU and encoders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IMU ≥ 50 Hz · wheel encoders ≤ 2% distance error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43416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Computing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Raspberry Pi 5 with 4 GB memory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363a46"/>
                      </a:solidFill>
                      <a:prstDash val="solid"/>
                    </a:lnB>
                    <a:noFill/>
                  </a:tcPr>
                </a:tc>
              </a:tr>
              <a:tr h="421560"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Test environment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0708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52280" rIns="152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rgbClr val="bcc0c9"/>
                          </a:solidFill>
                          <a:latin typeface="Commissioner"/>
                          <a:ea typeface="Commissioner"/>
                        </a:rPr>
                        <a:t>Indoor test area of at least 6 × 4 m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52280" marR="152280">
                    <a:lnL w="12240">
                      <a:solidFill>
                        <a:srgbClr val="07080c"/>
                      </a:solidFill>
                      <a:prstDash val="solid"/>
                    </a:lnL>
                    <a:lnR w="12240">
                      <a:solidFill>
                        <a:srgbClr val="07080c"/>
                      </a:solidFill>
                      <a:prstDash val="solid"/>
                    </a:lnR>
                    <a:lnT w="12240">
                      <a:solidFill>
                        <a:srgbClr val="363a46"/>
                      </a:solidFill>
                      <a:prstDash val="solid"/>
                    </a:lnT>
                    <a:lnB w="12240">
                      <a:solidFill>
                        <a:srgbClr val="07080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7" name="Slide number"/>
          <p:cNvSpPr/>
          <p:nvPr/>
        </p:nvSpPr>
        <p:spPr>
          <a:xfrm>
            <a:off x="10982520" y="6580080"/>
            <a:ext cx="59976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5B702794-2371-4C21-915B-D5A87CE02806}" type="slidenum">
              <a:rPr b="0" lang="en-US" sz="10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5</a:t>
            </a:fld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/>
          <p:nvPr/>
        </p:nvSpPr>
        <p:spPr>
          <a:xfrm>
            <a:off x="609480" y="630360"/>
            <a:ext cx="115815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83000"/>
              </a:lnSpc>
              <a:tabLst>
                <a:tab algn="l" pos="0"/>
              </a:tabLst>
            </a:pPr>
            <a:r>
              <a:rPr b="0" lang="en-US" sz="1150" spc="134" strike="noStrike">
                <a:solidFill>
                  <a:srgbClr val="a9aeb8"/>
                </a:solidFill>
                <a:latin typeface="Mona Sans Medium"/>
                <a:ea typeface="Mona Sans Medium"/>
              </a:rPr>
              <a:t>METHOD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609480" y="890280"/>
            <a:ext cx="109717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3600" spc="-55" strike="noStrike">
                <a:solidFill>
                  <a:srgbClr val="eceae4"/>
                </a:solidFill>
                <a:latin typeface="Mona Sans Light"/>
                <a:ea typeface="Mona Sans Light"/>
              </a:rPr>
              <a:t>Method: train once, iterate until transfer succeeds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609480" y="1547280"/>
            <a:ext cx="1097172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bcc0c9"/>
                </a:solidFill>
                <a:latin typeface="Commissioner"/>
                <a:ea typeface="Commissioner"/>
              </a:rPr>
              <a:t>Training repeats while reward design, environment diversity, and sensor noise are adjusted until the policy succeeds in simulation and transfers to the robot.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609480" y="2308320"/>
            <a:ext cx="5499720" cy="32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325080" indent="-325080" defTabSz="914400">
              <a:lnSpc>
                <a:spcPct val="121000"/>
              </a:lnSpc>
              <a:buClr>
                <a:srgbClr val="bcc0c9"/>
              </a:buClr>
              <a:buFont typeface="Calibri Light"/>
              <a:buAutoNum type="arabicPeriod"/>
            </a:pPr>
            <a:r>
              <a:rPr b="0" lang="en-US" sz="1600" spc="-1" strike="noStrike">
                <a:solidFill>
                  <a:srgbClr val="bcc0c9"/>
                </a:solidFill>
                <a:latin typeface="Commissioner"/>
                <a:ea typeface="Commissioner"/>
              </a:rPr>
              <a:t>Model the robot, sensors, and diverse environments in Isaac Sim.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25080" indent="-325080" defTabSz="914400">
              <a:lnSpc>
                <a:spcPct val="121000"/>
              </a:lnSpc>
              <a:buClr>
                <a:srgbClr val="bcc0c9"/>
              </a:buClr>
              <a:buFont typeface="Calibri Light"/>
              <a:buAutoNum type="arabicPeriod" startAt="2"/>
            </a:pPr>
            <a:r>
              <a:rPr b="0" lang="en-US" sz="1600" spc="-1" strike="noStrike">
                <a:solidFill>
                  <a:srgbClr val="bcc0c9"/>
                </a:solidFill>
                <a:latin typeface="Commissioner"/>
                <a:ea typeface="Commissioner"/>
              </a:rPr>
              <a:t>Train PPO with curriculum learning and injected sensor noise.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25080" indent="-325080" defTabSz="914400">
              <a:lnSpc>
                <a:spcPct val="121000"/>
              </a:lnSpc>
              <a:buClr>
                <a:srgbClr val="bcc0c9"/>
              </a:buClr>
              <a:buFont typeface="Calibri Light"/>
              <a:buAutoNum type="arabicPeriod" startAt="3"/>
            </a:pPr>
            <a:r>
              <a:rPr b="0" lang="en-US" sz="1600" spc="-1" strike="noStrike">
                <a:solidFill>
                  <a:srgbClr val="bcc0c9"/>
                </a:solidFill>
                <a:latin typeface="Commissioner"/>
                <a:ea typeface="Commissioner"/>
              </a:rPr>
              <a:t>Export the trained policy in ONNX format.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25080" indent="-325080" defTabSz="914400">
              <a:lnSpc>
                <a:spcPct val="121000"/>
              </a:lnSpc>
              <a:buClr>
                <a:srgbClr val="bcc0c9"/>
              </a:buClr>
              <a:buFont typeface="Calibri Light"/>
              <a:buAutoNum type="arabicPeriod" startAt="4"/>
            </a:pPr>
            <a:r>
              <a:rPr b="0" lang="en-US" sz="1600" spc="-1" strike="noStrike">
                <a:solidFill>
                  <a:srgbClr val="bcc0c9"/>
                </a:solidFill>
                <a:latin typeface="Commissioner"/>
                <a:ea typeface="Commissioner"/>
              </a:rPr>
              <a:t>Run the policy in a ROS 2 Jazzy node on Raspberry Pi 5.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marL="325080" indent="-325080" defTabSz="914400">
              <a:lnSpc>
                <a:spcPct val="121000"/>
              </a:lnSpc>
              <a:buClr>
                <a:srgbClr val="bcc0c9"/>
              </a:buClr>
              <a:buFont typeface="Calibri Light"/>
              <a:buAutoNum type="arabicPeriod" startAt="5"/>
            </a:pPr>
            <a:r>
              <a:rPr b="0" lang="en-US" sz="1600" spc="-1" strike="noStrike">
                <a:solidFill>
                  <a:srgbClr val="bcc0c9"/>
                </a:solidFill>
                <a:latin typeface="Commissioner"/>
                <a:ea typeface="Commissioner"/>
              </a:rPr>
              <a:t>Evaluate against Nav2 using repeatable physical-robot tests.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2" name="Image 0" descr="preencoded.png"/>
          <p:cNvPicPr/>
          <p:nvPr/>
        </p:nvPicPr>
        <p:blipFill>
          <a:blip r:embed="rId1"/>
          <a:stretch/>
        </p:blipFill>
        <p:spPr>
          <a:xfrm>
            <a:off x="6500160" y="2149920"/>
            <a:ext cx="4899600" cy="3588480"/>
          </a:xfrm>
          <a:prstGeom prst="rect">
            <a:avLst/>
          </a:prstGeom>
          <a:ln w="0">
            <a:noFill/>
          </a:ln>
        </p:spPr>
      </p:pic>
      <p:sp>
        <p:nvSpPr>
          <p:cNvPr id="73" name="Text 4"/>
          <p:cNvSpPr/>
          <p:nvPr/>
        </p:nvSpPr>
        <p:spPr>
          <a:xfrm>
            <a:off x="6500160" y="5799960"/>
            <a:ext cx="4999680" cy="89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101520" anchor="t">
            <a:normAutofit/>
          </a:bodyPr>
          <a:p>
            <a:pPr defTabSz="914400">
              <a:lnSpc>
                <a:spcPct val="113000"/>
              </a:lnSpc>
              <a:tabLst>
                <a:tab algn="l" pos="0"/>
              </a:tabLst>
            </a:pPr>
            <a:r>
              <a:rPr b="0" lang="en-US" sz="1150" spc="18" strike="noStrike">
                <a:solidFill>
                  <a:srgbClr val="6fcfbf"/>
                </a:solidFill>
                <a:latin typeface="Reddit Mono Medium"/>
                <a:ea typeface="Reddit Mono Medium"/>
              </a:rPr>
              <a:t>INPUTS</a:t>
            </a:r>
            <a:r>
              <a:rPr b="0" lang="en-US" sz="11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 LiDAR readings · goal position · robot velocity vector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3000"/>
              </a:lnSpc>
              <a:tabLst>
                <a:tab algn="l" pos="0"/>
              </a:tabLst>
            </a:pPr>
            <a:r>
              <a:rPr b="0" lang="en-US" sz="1150" spc="18" strike="noStrike">
                <a:solidFill>
                  <a:srgbClr val="6fcfbf"/>
                </a:solidFill>
                <a:latin typeface="Reddit Mono Medium"/>
                <a:ea typeface="Reddit Mono Medium"/>
              </a:rPr>
              <a:t>EVALUATION</a:t>
            </a:r>
            <a:r>
              <a:rPr b="0" lang="en-US" sz="11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 success rate · collisions · time to goal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13000"/>
              </a:lnSpc>
              <a:tabLst>
                <a:tab algn="l" pos="0"/>
              </a:tabLst>
            </a:pPr>
            <a:r>
              <a:rPr b="0" lang="en-US" sz="1150" spc="18" strike="noStrike">
                <a:solidFill>
                  <a:srgbClr val="6fcfbf"/>
                </a:solidFill>
                <a:latin typeface="Reddit Mono Medium"/>
                <a:ea typeface="Reddit Mono Medium"/>
              </a:rPr>
              <a:t>LOOP LEVERS</a:t>
            </a:r>
            <a:r>
              <a:rPr b="0" lang="en-US" sz="11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 reward design · environment diversity · sensor noise · transfer check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lide number"/>
          <p:cNvSpPr/>
          <p:nvPr/>
        </p:nvSpPr>
        <p:spPr>
          <a:xfrm>
            <a:off x="10982520" y="6580080"/>
            <a:ext cx="59976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85257C87-1C3A-47DB-AEA1-E5F7F7715D3F}" type="slidenum">
              <a:rPr b="0" lang="en-US" sz="10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7</a:t>
            </a:fld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609480" y="630360"/>
            <a:ext cx="115815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83000"/>
              </a:lnSpc>
              <a:tabLst>
                <a:tab algn="l" pos="0"/>
              </a:tabLst>
            </a:pPr>
            <a:r>
              <a:rPr b="0" lang="en-US" sz="1150" spc="134" strike="noStrike">
                <a:solidFill>
                  <a:srgbClr val="a9aeb8"/>
                </a:solidFill>
                <a:latin typeface="Mona Sans Medium"/>
                <a:ea typeface="Mona Sans Medium"/>
              </a:rPr>
              <a:t>TIMELINE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609480" y="890280"/>
            <a:ext cx="109717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3600" spc="-55" strike="noStrike">
                <a:solidFill>
                  <a:srgbClr val="eceae4"/>
                </a:solidFill>
                <a:latin typeface="Mona Sans Light"/>
                <a:ea typeface="Mona Sans Light"/>
              </a:rPr>
              <a:t>Project timeline by phase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609480" y="5649840"/>
            <a:ext cx="1158156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13000"/>
              </a:lnSpc>
              <a:tabLst>
                <a:tab algn="l" pos="0"/>
              </a:tabLst>
            </a:pPr>
            <a:r>
              <a:rPr b="0" lang="en-US" sz="11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Phases run in sequence across the full project; no fixed calendar dates.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imeline line"/>
          <p:cNvSpPr/>
          <p:nvPr/>
        </p:nvSpPr>
        <p:spPr>
          <a:xfrm>
            <a:off x="1500120" y="3390480"/>
            <a:ext cx="9249120" cy="18360"/>
          </a:xfrm>
          <a:prstGeom prst="rect">
            <a:avLst/>
          </a:prstGeom>
          <a:solidFill>
            <a:srgbClr val="363a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5920" bIns="-2592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hase tag 1"/>
          <p:cNvSpPr/>
          <p:nvPr/>
        </p:nvSpPr>
        <p:spPr>
          <a:xfrm>
            <a:off x="650160" y="2700000"/>
            <a:ext cx="169920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PHASE 1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Phase node 1"/>
          <p:cNvSpPr/>
          <p:nvPr/>
        </p:nvSpPr>
        <p:spPr>
          <a:xfrm>
            <a:off x="1220040" y="3120120"/>
            <a:ext cx="559440" cy="559440"/>
          </a:xfrm>
          <a:prstGeom prst="ellipse">
            <a:avLst/>
          </a:prstGeom>
          <a:solidFill>
            <a:srgbClr val="e8a6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7080c"/>
                </a:solidFill>
                <a:latin typeface="Mona Sans Medium"/>
                <a:ea typeface="Mona Sans Medium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hase label 1"/>
          <p:cNvSpPr/>
          <p:nvPr/>
        </p:nvSpPr>
        <p:spPr>
          <a:xfrm>
            <a:off x="650160" y="3939840"/>
            <a:ext cx="1699200" cy="12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eceae4"/>
                </a:solidFill>
                <a:latin typeface="Commissioner"/>
                <a:ea typeface="Commissioner"/>
              </a:rPr>
              <a:t>Environment setup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bcc0c9"/>
                </a:solidFill>
                <a:latin typeface="Commissioner"/>
                <a:ea typeface="Commissioner"/>
              </a:rPr>
              <a:t>ROS 2 Jazzy + Isaac Sim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Phase tag 2"/>
          <p:cNvSpPr/>
          <p:nvPr/>
        </p:nvSpPr>
        <p:spPr>
          <a:xfrm>
            <a:off x="2499840" y="2700000"/>
            <a:ext cx="169920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PHASE 2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Phase node 2"/>
          <p:cNvSpPr/>
          <p:nvPr/>
        </p:nvSpPr>
        <p:spPr>
          <a:xfrm>
            <a:off x="3070080" y="3120120"/>
            <a:ext cx="559440" cy="559440"/>
          </a:xfrm>
          <a:prstGeom prst="ellipse">
            <a:avLst/>
          </a:prstGeom>
          <a:solidFill>
            <a:srgbClr val="e8a6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7080c"/>
                </a:solidFill>
                <a:latin typeface="Mona Sans Medium"/>
                <a:ea typeface="Mona Sans Medium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hase label 2"/>
          <p:cNvSpPr/>
          <p:nvPr/>
        </p:nvSpPr>
        <p:spPr>
          <a:xfrm>
            <a:off x="2499840" y="3939840"/>
            <a:ext cx="1699200" cy="12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eceae4"/>
                </a:solidFill>
                <a:latin typeface="Commissioner"/>
                <a:ea typeface="Commissioner"/>
              </a:rPr>
              <a:t>Literature review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bcc0c9"/>
                </a:solidFill>
                <a:latin typeface="Commissioner"/>
                <a:ea typeface="Commissioner"/>
              </a:rPr>
              <a:t>Research gap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hase tag 3"/>
          <p:cNvSpPr/>
          <p:nvPr/>
        </p:nvSpPr>
        <p:spPr>
          <a:xfrm>
            <a:off x="4349880" y="2700000"/>
            <a:ext cx="169920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PHASE 3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Phase node 3"/>
          <p:cNvSpPr/>
          <p:nvPr/>
        </p:nvSpPr>
        <p:spPr>
          <a:xfrm>
            <a:off x="4920120" y="3120120"/>
            <a:ext cx="559440" cy="559440"/>
          </a:xfrm>
          <a:prstGeom prst="ellipse">
            <a:avLst/>
          </a:prstGeom>
          <a:solidFill>
            <a:srgbClr val="e8a6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7080c"/>
                </a:solidFill>
                <a:latin typeface="Mona Sans Medium"/>
                <a:ea typeface="Mona Sans Medium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hase label 3"/>
          <p:cNvSpPr/>
          <p:nvPr/>
        </p:nvSpPr>
        <p:spPr>
          <a:xfrm>
            <a:off x="4349880" y="3939840"/>
            <a:ext cx="1699200" cy="12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eceae4"/>
                </a:solidFill>
                <a:latin typeface="Commissioner"/>
                <a:ea typeface="Commissioner"/>
              </a:rPr>
              <a:t>Robot modeling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bcc0c9"/>
                </a:solidFill>
                <a:latin typeface="Commissioner"/>
                <a:ea typeface="Commissioner"/>
              </a:rPr>
              <a:t>Sensor integration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hase tag 4"/>
          <p:cNvSpPr/>
          <p:nvPr/>
        </p:nvSpPr>
        <p:spPr>
          <a:xfrm>
            <a:off x="6199920" y="2700000"/>
            <a:ext cx="169920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PHASE 4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hase node 4"/>
          <p:cNvSpPr/>
          <p:nvPr/>
        </p:nvSpPr>
        <p:spPr>
          <a:xfrm>
            <a:off x="6770160" y="3120120"/>
            <a:ext cx="559440" cy="559440"/>
          </a:xfrm>
          <a:prstGeom prst="ellipse">
            <a:avLst/>
          </a:prstGeom>
          <a:solidFill>
            <a:srgbClr val="e8a6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7080c"/>
                </a:solidFill>
                <a:latin typeface="Mona Sans Medium"/>
                <a:ea typeface="Mona Sans Medium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hase label 4"/>
          <p:cNvSpPr/>
          <p:nvPr/>
        </p:nvSpPr>
        <p:spPr>
          <a:xfrm>
            <a:off x="6199920" y="3939840"/>
            <a:ext cx="1699200" cy="12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eceae4"/>
                </a:solidFill>
                <a:latin typeface="Commissioner"/>
                <a:ea typeface="Commissioner"/>
              </a:rPr>
              <a:t>Simulation environments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bcc0c9"/>
                </a:solidFill>
                <a:latin typeface="Commissioner"/>
                <a:ea typeface="Commissioner"/>
              </a:rPr>
              <a:t>Diverse layouts and obstacles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hase tag 5"/>
          <p:cNvSpPr/>
          <p:nvPr/>
        </p:nvSpPr>
        <p:spPr>
          <a:xfrm>
            <a:off x="8049960" y="2700000"/>
            <a:ext cx="169920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PHASE 5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Phase node 5"/>
          <p:cNvSpPr/>
          <p:nvPr/>
        </p:nvSpPr>
        <p:spPr>
          <a:xfrm>
            <a:off x="8619840" y="3120120"/>
            <a:ext cx="559440" cy="559440"/>
          </a:xfrm>
          <a:prstGeom prst="ellipse">
            <a:avLst/>
          </a:prstGeom>
          <a:solidFill>
            <a:srgbClr val="e8a6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7080c"/>
                </a:solidFill>
                <a:latin typeface="Mona Sans Medium"/>
                <a:ea typeface="Mona Sans Medium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hase label 5"/>
          <p:cNvSpPr/>
          <p:nvPr/>
        </p:nvSpPr>
        <p:spPr>
          <a:xfrm>
            <a:off x="8049960" y="3939840"/>
            <a:ext cx="1699200" cy="12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eceae4"/>
                </a:solidFill>
                <a:latin typeface="Commissioner"/>
                <a:ea typeface="Commissioner"/>
              </a:rPr>
              <a:t>PPO training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bcc0c9"/>
                </a:solidFill>
                <a:latin typeface="Commissioner"/>
                <a:ea typeface="Commissioner"/>
              </a:rPr>
              <a:t>ONNX export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Phase tag 6"/>
          <p:cNvSpPr/>
          <p:nvPr/>
        </p:nvSpPr>
        <p:spPr>
          <a:xfrm>
            <a:off x="9900000" y="2700000"/>
            <a:ext cx="169920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1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PHASE 6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Phase node 6"/>
          <p:cNvSpPr/>
          <p:nvPr/>
        </p:nvSpPr>
        <p:spPr>
          <a:xfrm>
            <a:off x="10469880" y="3120120"/>
            <a:ext cx="559440" cy="559440"/>
          </a:xfrm>
          <a:prstGeom prst="ellipse">
            <a:avLst/>
          </a:prstGeom>
          <a:solidFill>
            <a:srgbClr val="e8a6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07080c"/>
                </a:solidFill>
                <a:latin typeface="Mona Sans Medium"/>
                <a:ea typeface="Mona Sans Medium"/>
              </a:rPr>
              <a:t>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hase label 6"/>
          <p:cNvSpPr/>
          <p:nvPr/>
        </p:nvSpPr>
        <p:spPr>
          <a:xfrm>
            <a:off x="9900000" y="3939840"/>
            <a:ext cx="1699200" cy="12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600" spc="-1" strike="noStrike">
                <a:solidFill>
                  <a:srgbClr val="eceae4"/>
                </a:solidFill>
                <a:latin typeface="Commissioner"/>
                <a:ea typeface="Commissioner"/>
              </a:rPr>
              <a:t>Deployment and evaluation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5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1300" spc="-1" strike="noStrike">
                <a:solidFill>
                  <a:srgbClr val="bcc0c9"/>
                </a:solidFill>
                <a:latin typeface="Commissioner"/>
                <a:ea typeface="Commissioner"/>
              </a:rPr>
              <a:t>Real robot and Nav2 comparison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Slide number"/>
          <p:cNvSpPr/>
          <p:nvPr/>
        </p:nvSpPr>
        <p:spPr>
          <a:xfrm>
            <a:off x="10982520" y="6580080"/>
            <a:ext cx="59976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982774C0-E997-48D9-8199-09A520528E92}" type="slidenum">
              <a:rPr b="0" lang="en-US" sz="10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7</a:t>
            </a:fld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609480" y="630360"/>
            <a:ext cx="11581560" cy="14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83000"/>
              </a:lnSpc>
              <a:tabLst>
                <a:tab algn="l" pos="0"/>
              </a:tabLst>
            </a:pPr>
            <a:r>
              <a:rPr b="0" lang="en-US" sz="1150" spc="134" strike="noStrike">
                <a:solidFill>
                  <a:srgbClr val="a9aeb8"/>
                </a:solidFill>
                <a:latin typeface="Mona Sans Medium"/>
                <a:ea typeface="Mona Sans Medium"/>
              </a:rPr>
              <a:t>EVALUATION CRITERIA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609480" y="890280"/>
            <a:ext cx="1097172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0" lang="en-US" sz="3600" spc="-55" strike="noStrike">
                <a:solidFill>
                  <a:srgbClr val="eceae4"/>
                </a:solidFill>
                <a:latin typeface="Mona Sans Light"/>
                <a:ea typeface="Mona Sans Light"/>
              </a:rPr>
              <a:t>Success will be judged quantitatively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609480" y="2578320"/>
            <a:ext cx="251388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87000"/>
              </a:lnSpc>
              <a:tabLst>
                <a:tab algn="l" pos="0"/>
              </a:tabLst>
            </a:pPr>
            <a:r>
              <a:rPr b="0" lang="en-US" sz="6000" spc="-120" strike="noStrike">
                <a:solidFill>
                  <a:srgbClr val="eceae4"/>
                </a:solidFill>
                <a:latin typeface="Mona Sans Light"/>
                <a:ea typeface="Mona Sans Light"/>
              </a:rPr>
              <a:t>85%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609480" y="3493800"/>
            <a:ext cx="251388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969ca8"/>
                </a:solidFill>
                <a:latin typeface="Commissioner"/>
                <a:ea typeface="Commissioner"/>
              </a:rPr>
              <a:t>Simulation success rate target: above 85%.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3581280" y="2578320"/>
            <a:ext cx="228528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87000"/>
              </a:lnSpc>
              <a:tabLst>
                <a:tab algn="l" pos="0"/>
              </a:tabLst>
            </a:pPr>
            <a:r>
              <a:rPr b="0" lang="en-US" sz="6000" spc="-120" strike="noStrike">
                <a:solidFill>
                  <a:srgbClr val="eceae4"/>
                </a:solidFill>
                <a:latin typeface="Mona Sans Light"/>
                <a:ea typeface="Mona Sans Light"/>
              </a:rPr>
              <a:t>80%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3581280" y="3493800"/>
            <a:ext cx="228528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969ca8"/>
                </a:solidFill>
                <a:latin typeface="Commissioner"/>
                <a:ea typeface="Commissioner"/>
              </a:rPr>
              <a:t>Real-world success rate target: 80%.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6324480" y="2578320"/>
            <a:ext cx="2285280" cy="79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87000"/>
              </a:lnSpc>
              <a:tabLst>
                <a:tab algn="l" pos="0"/>
              </a:tabLst>
            </a:pPr>
            <a:r>
              <a:rPr b="0" lang="en-US" sz="6000" spc="-120" strike="noStrike">
                <a:solidFill>
                  <a:srgbClr val="eceae4"/>
                </a:solidFill>
                <a:latin typeface="Mona Sans Light"/>
                <a:ea typeface="Mona Sans Light"/>
              </a:rPr>
              <a:t>0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6324480" y="3493800"/>
            <a:ext cx="2513880" cy="29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969ca8"/>
                </a:solidFill>
                <a:latin typeface="Commissioner"/>
                <a:ea typeface="Commissioner"/>
              </a:rPr>
              <a:t>Collision target: 0.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9067680" y="2557800"/>
            <a:ext cx="2513880" cy="6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87000"/>
              </a:lnSpc>
              <a:tabLst>
                <a:tab algn="l" pos="0"/>
              </a:tabLst>
            </a:pPr>
            <a:r>
              <a:rPr b="0" lang="en-US" sz="4600" spc="-92" strike="noStrike">
                <a:solidFill>
                  <a:srgbClr val="eceae4"/>
                </a:solidFill>
                <a:latin typeface="Mona Sans Light"/>
                <a:ea typeface="Mona Sans Light"/>
              </a:rPr>
              <a:t>Nav2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9067680" y="3308760"/>
            <a:ext cx="2513880" cy="5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969ca8"/>
                </a:solidFill>
                <a:latin typeface="Commissioner"/>
                <a:ea typeface="Commissioner"/>
              </a:rPr>
              <a:t>Time to goal: comparable to the Nav2 baseline.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10"/>
          <p:cNvSpPr/>
          <p:nvPr/>
        </p:nvSpPr>
        <p:spPr>
          <a:xfrm>
            <a:off x="609480" y="5275800"/>
            <a:ext cx="2742480" cy="37440"/>
          </a:xfrm>
          <a:prstGeom prst="roundRect">
            <a:avLst>
              <a:gd name="adj" fmla="val 49999"/>
            </a:avLst>
          </a:prstGeom>
          <a:solidFill>
            <a:srgbClr val="e8a6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8000" bIns="-18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609480" y="5561280"/>
            <a:ext cx="109717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21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bcc0c9"/>
                </a:solidFill>
                <a:latin typeface="Commissioner"/>
                <a:ea typeface="Commissioner"/>
              </a:rPr>
              <a:t>The contribution is a repeatable sim-to-real evaluation of RL navigation on a compact robot, not simulation results alone.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Shape 12"/>
          <p:cNvSpPr/>
          <p:nvPr/>
        </p:nvSpPr>
        <p:spPr>
          <a:xfrm>
            <a:off x="3346200" y="2486160"/>
            <a:ext cx="11880" cy="1584000"/>
          </a:xfrm>
          <a:prstGeom prst="rect">
            <a:avLst/>
          </a:prstGeom>
          <a:solidFill>
            <a:srgbClr val="2f3a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3"/>
          <p:cNvSpPr/>
          <p:nvPr/>
        </p:nvSpPr>
        <p:spPr>
          <a:xfrm>
            <a:off x="6089400" y="2486160"/>
            <a:ext cx="11880" cy="1584000"/>
          </a:xfrm>
          <a:prstGeom prst="rect">
            <a:avLst/>
          </a:prstGeom>
          <a:solidFill>
            <a:srgbClr val="2f3a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4"/>
          <p:cNvSpPr/>
          <p:nvPr/>
        </p:nvSpPr>
        <p:spPr>
          <a:xfrm>
            <a:off x="8832600" y="2486160"/>
            <a:ext cx="11880" cy="1584000"/>
          </a:xfrm>
          <a:prstGeom prst="rect">
            <a:avLst/>
          </a:prstGeom>
          <a:solidFill>
            <a:srgbClr val="2f3a4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Slide number"/>
          <p:cNvSpPr/>
          <p:nvPr/>
        </p:nvSpPr>
        <p:spPr>
          <a:xfrm>
            <a:off x="10982520" y="6580080"/>
            <a:ext cx="599760" cy="1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9805BCE2-2369-4F60-93C5-97B5EED7BDB4}" type="slidenum">
              <a:rPr b="0" lang="en-US" sz="1050" spc="18" strike="noStrike">
                <a:solidFill>
                  <a:srgbClr val="969ca8"/>
                </a:solidFill>
                <a:latin typeface="Reddit Mono Medium"/>
                <a:ea typeface="Reddit Mono Medium"/>
              </a:rPr>
              <a:t>9</a:t>
            </a:fld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2026-10-30T11:50:27Z</dcterms:created>
  <dc:creator/>
  <dc:description/>
  <dc:language>en-US</dc:language>
  <cp:lastModifiedBy/>
  <dcterms:modified xsi:type="dcterms:W3CDTF">2026-10-30T15:44:36Z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